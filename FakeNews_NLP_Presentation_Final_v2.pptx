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70" r:id="rId15"/>
    <p:sldId id="269" r:id="rId16"/>
  </p:sldIdLst>
  <p:sldSz cx="9144000" cy="5143500" type="screen16x9"/>
  <p:notesSz cx="5143500" cy="9144000"/>
  <p:embeddedFontLst>
    <p:embeddedFont>
      <p:font typeface="Arial Black" panose="020B0A04020102020204" pitchFamily="34" charset="0"/>
      <p:regular r:id="rId18"/>
      <p:bold r:id="rId19"/>
    </p:embeddedFont>
    <p:embeddedFont>
      <p:font typeface="Consolas" panose="020B0609020204030204" pitchFamily="49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89B15906-57F8-4E66-9A2F-237F4B9AFC7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6"/>
            <p14:sldId id="265"/>
            <p14:sldId id="267"/>
            <p14:sldId id="268"/>
            <p14:sldId id="270"/>
          </p14:sldIdLst>
        </p14:section>
        <p14:section name="Unused" id="{3DCE6711-F795-4E82-9A18-3ACA153ADDEC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hV15FK1wx8Y0Y3TR1zUyYchWaQ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100" d="100"/>
          <a:sy n="100" d="100"/>
        </p:scale>
        <p:origin x="1505" y="97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2A"/>
                </a:solidFill>
                <a:latin typeface="Arial"/>
              </a:rPr>
              <a:t>Mean stylistic feature values — Fake (red) vs Real (green)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Fake (0)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Exclamations</c:v>
                </c:pt>
                <c:pt idx="1">
                  <c:v>Questions</c:v>
                </c:pt>
                <c:pt idx="2">
                  <c:v>Caps Ratio</c:v>
                </c:pt>
                <c:pt idx="3">
                  <c:v>Has Quote</c:v>
                </c:pt>
                <c:pt idx="4">
                  <c:v>Starts CAPS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4.2000000000000003E-2</c:v>
                </c:pt>
                <c:pt idx="1">
                  <c:v>3.1E-2</c:v>
                </c:pt>
                <c:pt idx="2">
                  <c:v>0.185</c:v>
                </c:pt>
                <c:pt idx="3">
                  <c:v>0.24</c:v>
                </c:pt>
                <c:pt idx="4">
                  <c:v>8.5000000000000006E-2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EE-4502-94A9-9C3037D384A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 (1)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Exclamations</c:v>
                </c:pt>
                <c:pt idx="1">
                  <c:v>Questions</c:v>
                </c:pt>
                <c:pt idx="2">
                  <c:v>Caps Ratio</c:v>
                </c:pt>
                <c:pt idx="3">
                  <c:v>Has Quote</c:v>
                </c:pt>
                <c:pt idx="4">
                  <c:v>Starts CAPS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2.0000000000000001E-4</c:v>
                </c:pt>
                <c:pt idx="1">
                  <c:v>1.7999999999999999E-2</c:v>
                </c:pt>
                <c:pt idx="2">
                  <c:v>3.7999999999999999E-2</c:v>
                </c:pt>
                <c:pt idx="3">
                  <c:v>0.31</c:v>
                </c:pt>
                <c:pt idx="4">
                  <c:v>1.2E-2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EE-4502-94A9-9C3037D384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0F4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1" name="Google Shape;251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8" name="Google Shape;318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2" name="Google Shape;382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4" name="Google Shape;424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2" name="Google Shape;402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57200" y="50292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Arial Black"/>
              <a:buNone/>
            </a:pPr>
            <a:r>
              <a:rPr lang="en-US" sz="46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FAKE NEWS DETECTION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2000"/>
              <a:buFont typeface="Arial"/>
              <a:buNone/>
            </a:pPr>
            <a:r>
              <a:rPr lang="en-US" sz="2000" i="1">
                <a:solidFill>
                  <a:srgbClr val="42A5F5"/>
                </a:solidFill>
                <a:latin typeface="Arial"/>
                <a:ea typeface="Arial"/>
                <a:cs typeface="Arial"/>
                <a:sym typeface="Arial"/>
              </a:rPr>
              <a:t>Natural Language Processing Challenge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0" y="2331720"/>
            <a:ext cx="9144000" cy="73152"/>
          </a:xfrm>
          <a:prstGeom prst="rect">
            <a:avLst/>
          </a:prstGeom>
          <a:solidFill>
            <a:srgbClr val="1E88E5"/>
          </a:solidFill>
          <a:ln w="12700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457200" y="2514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Classifying real vs. fake news headlines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using classical NLP and machine learning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3611880"/>
            <a:ext cx="2560320" cy="11887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3721608"/>
            <a:ext cx="2560320" cy="653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3600"/>
              <a:buFont typeface="Arial Black"/>
              <a:buNone/>
            </a:pPr>
            <a:r>
              <a:rPr lang="en-US" sz="3600" b="1">
                <a:solidFill>
                  <a:srgbClr val="1565C0"/>
                </a:solidFill>
                <a:latin typeface="Arial Black"/>
                <a:ea typeface="Arial Black"/>
                <a:cs typeface="Arial Black"/>
                <a:sym typeface="Arial Black"/>
              </a:rPr>
              <a:t>36,429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4301338"/>
            <a:ext cx="2560320" cy="45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Training articles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291840" y="3611880"/>
            <a:ext cx="2560320" cy="11887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291840" y="3721608"/>
            <a:ext cx="2560320" cy="653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88E5"/>
              </a:buClr>
              <a:buSzPts val="3600"/>
              <a:buFont typeface="Arial Black"/>
              <a:buNone/>
            </a:pPr>
            <a:r>
              <a:rPr lang="en-US" sz="3600" b="1">
                <a:solidFill>
                  <a:srgbClr val="1E88E5"/>
                </a:solidFill>
                <a:latin typeface="Arial Black"/>
                <a:ea typeface="Arial Black"/>
                <a:cs typeface="Arial Black"/>
                <a:sym typeface="Arial Black"/>
              </a:rPr>
              <a:t>99.6%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291840" y="4301338"/>
            <a:ext cx="2560320" cy="45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Best model accuracy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126480" y="3611880"/>
            <a:ext cx="2560320" cy="11887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126480" y="3721608"/>
            <a:ext cx="2560320" cy="653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3600"/>
              <a:buFont typeface="Arial Black"/>
              <a:buNone/>
            </a:pPr>
            <a:r>
              <a:rPr lang="en-US" sz="3600" b="1">
                <a:solidFill>
                  <a:srgbClr val="42A5F5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126480" y="4301338"/>
            <a:ext cx="2560320" cy="45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Models compared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Arial Black"/>
              <a:buNone/>
            </a:pPr>
            <a:r>
              <a:rPr lang="en-US" sz="2600" b="1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Agenda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274320" y="804672"/>
            <a:ext cx="8595360" cy="27432"/>
          </a:xfrm>
          <a:prstGeom prst="rect">
            <a:avLst/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274320" y="1005840"/>
            <a:ext cx="4206240" cy="7772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274320" y="1005840"/>
            <a:ext cx="411480" cy="77724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274320" y="1005840"/>
            <a:ext cx="4114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77240" y="1060704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77240" y="140817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Arial"/>
              <a:buNone/>
            </a:pPr>
            <a:r>
              <a:rPr lang="en-US" sz="1000" i="1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What we set out to solve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274320" y="1965960"/>
            <a:ext cx="4206240" cy="7772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274320" y="1965960"/>
            <a:ext cx="411480" cy="77724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274320" y="1965960"/>
            <a:ext cx="4114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777240" y="2020824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Exploratory Data Analysis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77240" y="236829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Arial"/>
              <a:buNone/>
            </a:pPr>
            <a:r>
              <a:rPr lang="en-US" sz="1000" i="1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Understanding the dataset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274320" y="2926080"/>
            <a:ext cx="4206240" cy="7772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274320" y="2926080"/>
            <a:ext cx="411480" cy="77724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274320" y="2926080"/>
            <a:ext cx="4114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777240" y="2980944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Text Preprocessing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777240" y="332841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Arial"/>
              <a:buNone/>
            </a:pPr>
            <a:r>
              <a:rPr lang="en-US" sz="1000" i="1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Cleaning &amp; normalising text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274320" y="3886200"/>
            <a:ext cx="4206240" cy="7772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274320" y="3886200"/>
            <a:ext cx="411480" cy="77724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274320" y="3886200"/>
            <a:ext cx="4114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77240" y="3941064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Feature Engineering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777240" y="428853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Arial"/>
              <a:buNone/>
            </a:pPr>
            <a:r>
              <a:rPr lang="en-US" sz="1000" i="1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Embeddings + stylistic signals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754880" y="1005840"/>
            <a:ext cx="4206240" cy="7772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754880" y="1005840"/>
            <a:ext cx="411480" cy="77724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754880" y="1005840"/>
            <a:ext cx="4114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257800" y="1060704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Model Training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257800" y="140817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Arial"/>
              <a:buNone/>
            </a:pPr>
            <a:r>
              <a:rPr lang="en-US" sz="1000" i="1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Naive Bayes · Logistic Reg. · Random Forest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754880" y="1965960"/>
            <a:ext cx="4206240" cy="7772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754880" y="1965960"/>
            <a:ext cx="411480" cy="77724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754880" y="1965960"/>
            <a:ext cx="4114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257800" y="2020824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Results &amp; Evaluation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5257800" y="236829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Arial"/>
              <a:buNone/>
            </a:pPr>
            <a:r>
              <a:rPr lang="en-US" sz="1000" i="1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Accuracy, F1, confusion matrix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754880" y="2926080"/>
            <a:ext cx="4206240" cy="7772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754880" y="2926080"/>
            <a:ext cx="411480" cy="77724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754880" y="2926080"/>
            <a:ext cx="4114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257800" y="2980944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Predictions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5257800" y="332841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Arial"/>
              <a:buNone/>
            </a:pPr>
            <a:r>
              <a:rPr lang="en-US" sz="1000" i="1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Applying the model to new data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Arial Black"/>
              <a:buNone/>
            </a:pPr>
            <a:r>
              <a:rPr lang="en-US" sz="2600" b="1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Problem Statement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274320" y="804672"/>
            <a:ext cx="8595360" cy="27432"/>
          </a:xfrm>
          <a:prstGeom prst="rect">
            <a:avLst/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274320" y="960120"/>
            <a:ext cx="3931920" cy="35661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65760" y="105156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600"/>
              <a:buFont typeface="Arial Black"/>
              <a:buNone/>
            </a:pPr>
            <a:r>
              <a:rPr lang="en-US" sz="1600" b="1">
                <a:solidFill>
                  <a:srgbClr val="1565C0"/>
                </a:solidFill>
                <a:latin typeface="Arial Black"/>
                <a:ea typeface="Arial Black"/>
                <a:cs typeface="Arial Black"/>
                <a:sym typeface="Arial Black"/>
              </a:rPr>
              <a:t>The Challenge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65760" y="1536192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Given a dataset of news headlines, build a classifier to distinguish </a:t>
            </a:r>
            <a:r>
              <a:rPr lang="en-US" sz="1300" b="1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fake (0)</a:t>
            </a:r>
            <a:r>
              <a:rPr lang="en-US" sz="13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 from </a:t>
            </a:r>
            <a:r>
              <a:rPr lang="en-US" sz="1300" b="1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real (1)</a:t>
            </a:r>
            <a:r>
              <a:rPr lang="en-US" sz="13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 news.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65760" y="25146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Dataset columns: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57200" y="28803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`label`  — 0 (fake) or 1 (real)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57200" y="318211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`title`  — headline text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57200" y="3483864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`text`   — full article body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57200" y="378561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`subject`— news category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57200" y="408736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`date`   — publication date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480560" y="960120"/>
            <a:ext cx="4389120" cy="356616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572000" y="105156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lang="en-US" sz="16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Our Approach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617720" y="157276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🔍  EDA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6583680" y="16002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Arial"/>
              <a:buNone/>
            </a:pPr>
            <a:r>
              <a:rPr lang="en-US" sz="1000" i="1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Understand the data patterns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617720" y="207568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🧹  Preprocessing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583680" y="210312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Arial"/>
              <a:buNone/>
            </a:pPr>
            <a:r>
              <a:rPr lang="en-US" sz="1000" i="1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Clean &amp; normalise text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617720" y="257860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📐  Features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6583680" y="260604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Arial"/>
              <a:buNone/>
            </a:pPr>
            <a:r>
              <a:rPr lang="en-US" sz="1000" i="1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TF-IDF + stylistic signals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617720" y="308152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🤖  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583680" y="310896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Arial"/>
              <a:buNone/>
            </a:pPr>
            <a:r>
              <a:rPr lang="en-US" sz="1000" i="1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NB · LR · Random Forest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617720" y="358444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📊  Evaluate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583680" y="361188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Arial"/>
              <a:buNone/>
            </a:pPr>
            <a:r>
              <a:rPr lang="en-US" sz="1000" i="1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Pick best on test split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4617720" y="408736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📁  Predict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6583680" y="41148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Arial"/>
              <a:buNone/>
            </a:pPr>
            <a:r>
              <a:rPr lang="en-US" sz="1000" i="1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Label validation data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/>
          <p:nvPr/>
        </p:nvSpPr>
        <p:spPr>
          <a:xfrm>
            <a:off x="0" y="0"/>
            <a:ext cx="109800" cy="514350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274320" y="164592"/>
            <a:ext cx="85953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Arial Black"/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Exploratory Data Analysis: Dataset Overview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274320" y="804672"/>
            <a:ext cx="8595300" cy="27300"/>
          </a:xfrm>
          <a:prstGeom prst="rect">
            <a:avLst/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274320" y="1005840"/>
            <a:ext cx="1920300" cy="13716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274320" y="1115568"/>
            <a:ext cx="19203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3600"/>
              <a:buFont typeface="Arial Black"/>
              <a:buNone/>
            </a:pPr>
            <a:r>
              <a:rPr lang="en-US" sz="3600" b="1">
                <a:solidFill>
                  <a:srgbClr val="1565C0"/>
                </a:solidFill>
                <a:latin typeface="Arial Black"/>
                <a:ea typeface="Arial Black"/>
                <a:cs typeface="Arial Black"/>
                <a:sym typeface="Arial Black"/>
              </a:rPr>
              <a:t>36,429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274320" y="1801368"/>
            <a:ext cx="19203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Total articles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2468880" y="1005840"/>
            <a:ext cx="1920300" cy="13716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2468880" y="1115568"/>
            <a:ext cx="19203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88E5"/>
              </a:buClr>
              <a:buSzPts val="3600"/>
              <a:buFont typeface="Arial Black"/>
              <a:buNone/>
            </a:pPr>
            <a:r>
              <a:rPr lang="en-US" sz="3600" b="1" dirty="0">
                <a:solidFill>
                  <a:srgbClr val="1E88E5"/>
                </a:solidFill>
                <a:latin typeface="Arial Black"/>
                <a:ea typeface="Arial Black"/>
                <a:cs typeface="Arial Black"/>
                <a:sym typeface="Arial Black"/>
              </a:rPr>
              <a:t>~50/50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2468880" y="1801368"/>
            <a:ext cx="19203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Class balance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(Fake vs Real)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663440" y="1005840"/>
            <a:ext cx="1920300" cy="13716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663440" y="1115568"/>
            <a:ext cx="19203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3600"/>
              <a:buFont typeface="Arial Black"/>
              <a:buNone/>
            </a:pPr>
            <a:r>
              <a:rPr lang="en-US" sz="3600" b="1">
                <a:solidFill>
                  <a:srgbClr val="42A5F5"/>
                </a:solidFill>
                <a:latin typeface="Arial Black"/>
                <a:ea typeface="Arial Black"/>
                <a:cs typeface="Arial Black"/>
                <a:sym typeface="Arial Black"/>
              </a:rPr>
              <a:t>10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663440" y="1801368"/>
            <a:ext cx="19203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News subjects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(categories)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858000" y="1005840"/>
            <a:ext cx="1920300" cy="13716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858000" y="1115568"/>
            <a:ext cx="19203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3600"/>
              <a:buFont typeface="Arial Black"/>
              <a:buNone/>
            </a:pPr>
            <a:r>
              <a:rPr lang="en-US" sz="3600" b="1">
                <a:solidFill>
                  <a:srgbClr val="2E7D32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6858000" y="1801368"/>
            <a:ext cx="19203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Remaining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duplicates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434840" y="2606040"/>
            <a:ext cx="4434900" cy="2286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4526280" y="2697480"/>
            <a:ext cx="4206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Arial Black"/>
              <a:buNone/>
            </a:pPr>
            <a:r>
              <a:rPr lang="en-US" sz="1400" b="1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Key EDA Findings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4572000" y="3154680"/>
            <a:ext cx="4114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Dataset is balanced → no resampling needed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572000" y="3474720"/>
            <a:ext cx="4114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Fake titles are ~50% longer than real ones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572000" y="3794760"/>
            <a:ext cx="4114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Fake news uses ~200× more exclamation marks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572000" y="4114800"/>
            <a:ext cx="4114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Fake titles have ~5× higher CAPS ratio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572000" y="4434840"/>
            <a:ext cx="4114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Subjects are perfectly separated by class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4"/>
          <p:cNvPicPr preferRelativeResize="0"/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/>
          <a:stretch/>
        </p:blipFill>
        <p:spPr>
          <a:xfrm>
            <a:off x="258676" y="2606040"/>
            <a:ext cx="4027299" cy="2285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Arial Black"/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EDA: Stylistic Signals in Fake vs Real Titles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274320" y="804672"/>
            <a:ext cx="8595360" cy="27432"/>
          </a:xfrm>
          <a:prstGeom prst="rect">
            <a:avLst/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7" name="Google Shape;137;p5"/>
          <p:cNvGraphicFramePr/>
          <p:nvPr/>
        </p:nvGraphicFramePr>
        <p:xfrm>
          <a:off x="274320" y="963852"/>
          <a:ext cx="85953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Arial Black"/>
              <a:buNone/>
            </a:pPr>
            <a:r>
              <a:rPr lang="en-US" sz="2600" b="1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Text Preprocessing Pipeline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274320" y="804672"/>
            <a:ext cx="8595360" cy="27432"/>
          </a:xfrm>
          <a:prstGeom prst="rect">
            <a:avLst/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256032" y="960120"/>
            <a:ext cx="1600200" cy="3840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256032" y="960120"/>
            <a:ext cx="1600200" cy="50292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256032" y="96012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lang="en-US" sz="22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301752" y="1536192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Tokenisation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301752" y="2157984"/>
            <a:ext cx="15087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Split title into individual word tokens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using NLTK word_tokenize()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301752" y="3337560"/>
            <a:ext cx="1508760" cy="132588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329184" y="3401568"/>
            <a:ext cx="1453896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800"/>
              <a:buFont typeface="Consolas"/>
              <a:buNone/>
            </a:pPr>
            <a:r>
              <a:rPr lang="en-US" sz="800" dirty="0">
                <a:solidFill>
                  <a:srgbClr val="42A5F5"/>
                </a:solidFill>
                <a:latin typeface="Consolas"/>
                <a:ea typeface="Consolas"/>
                <a:cs typeface="Consolas"/>
                <a:sym typeface="Consolas"/>
              </a:rPr>
              <a:t>"Trump wins" → ["Trump", "wins"]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1984248" y="960120"/>
            <a:ext cx="1600200" cy="3840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1984248" y="960120"/>
            <a:ext cx="1600200" cy="50292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1984248" y="96012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lang="en-US" sz="22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2029968" y="1536192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lang="en-US" sz="1100" b="1" dirty="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Lowercase +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lang="en-US" sz="1100" b="1" dirty="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Punctuation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2029968" y="2157984"/>
            <a:ext cx="15087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Lowercase all tokens, drop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non-alphabetic characters (.isalpha())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2029968" y="3337560"/>
            <a:ext cx="1508760" cy="132588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2057400" y="3401568"/>
            <a:ext cx="1453896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800"/>
              <a:buFont typeface="Consolas"/>
              <a:buNone/>
            </a:pPr>
            <a:r>
              <a:rPr lang="en-US" sz="800" dirty="0">
                <a:solidFill>
                  <a:srgbClr val="42A5F5"/>
                </a:solidFill>
                <a:latin typeface="Consolas"/>
                <a:ea typeface="Consolas"/>
                <a:cs typeface="Consolas"/>
                <a:sym typeface="Consolas"/>
              </a:rPr>
              <a:t>["Trump", "wins!"] → ["trump", "wins"]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3712464" y="960120"/>
            <a:ext cx="1600200" cy="3840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3712464" y="960120"/>
            <a:ext cx="1600200" cy="50292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3712464" y="96012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lang="en-US" sz="22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3758184" y="1536192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Stop Word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Removal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3758184" y="2157984"/>
            <a:ext cx="15087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Remove common words with no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discriminative value (NLTK list)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3758184" y="3337560"/>
            <a:ext cx="1508760" cy="132588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3785616" y="3401568"/>
            <a:ext cx="1453896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800"/>
              <a:buFont typeface="Consolas"/>
              <a:buNone/>
            </a:pPr>
            <a:r>
              <a:rPr lang="en-US" sz="800" dirty="0">
                <a:solidFill>
                  <a:srgbClr val="42A5F5"/>
                </a:solidFill>
                <a:latin typeface="Consolas"/>
                <a:ea typeface="Consolas"/>
                <a:cs typeface="Consolas"/>
                <a:sym typeface="Consolas"/>
              </a:rPr>
              <a:t>["trump", "the", "wins"] → ["trump", "wins"]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440680" y="960120"/>
            <a:ext cx="1600200" cy="3840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5440680" y="960120"/>
            <a:ext cx="1600200" cy="50292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440680" y="96012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lang="en-US" sz="22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486400" y="1536192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Lemmatisation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vs Stemming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486400" y="2157984"/>
            <a:ext cx="15087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Reduce to base form. Both tested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and compared in modelling stage.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5486400" y="3337560"/>
            <a:ext cx="1508760" cy="132588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5513832" y="3401568"/>
            <a:ext cx="1453896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800"/>
              <a:buFont typeface="Consolas"/>
              <a:buNone/>
            </a:pPr>
            <a:r>
              <a:rPr lang="en-US" sz="800" dirty="0">
                <a:solidFill>
                  <a:srgbClr val="42A5F5"/>
                </a:solidFill>
                <a:latin typeface="Consolas"/>
                <a:ea typeface="Consolas"/>
                <a:cs typeface="Consolas"/>
                <a:sym typeface="Consolas"/>
              </a:rPr>
              <a:t>"running" → "run"   |   "</a:t>
            </a:r>
            <a:r>
              <a:rPr lang="en-US" sz="800" dirty="0" err="1">
                <a:solidFill>
                  <a:srgbClr val="42A5F5"/>
                </a:solidFill>
                <a:latin typeface="Consolas"/>
                <a:ea typeface="Consolas"/>
                <a:cs typeface="Consolas"/>
                <a:sym typeface="Consolas"/>
              </a:rPr>
              <a:t>troubl</a:t>
            </a:r>
            <a:r>
              <a:rPr lang="en-US" sz="800" dirty="0">
                <a:solidFill>
                  <a:srgbClr val="42A5F5"/>
                </a:solidFill>
                <a:latin typeface="Consolas"/>
                <a:ea typeface="Consolas"/>
                <a:cs typeface="Consolas"/>
                <a:sym typeface="Consolas"/>
              </a:rPr>
              <a:t>" (stem)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7168896" y="960120"/>
            <a:ext cx="1600200" cy="3840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7168896" y="960120"/>
            <a:ext cx="1600200" cy="50292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7168896" y="96012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lang="en-US" sz="22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7214616" y="1536192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Rejoin 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Plain String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7214616" y="2157984"/>
            <a:ext cx="15087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Required for TF-IDF/BoW vectorizers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which expect string input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7214616" y="3337560"/>
            <a:ext cx="1508760" cy="132588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7242048" y="3401568"/>
            <a:ext cx="1453896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800"/>
              <a:buFont typeface="Consolas"/>
              <a:buNone/>
            </a:pPr>
            <a:r>
              <a:rPr lang="en-US" sz="800" dirty="0">
                <a:solidFill>
                  <a:srgbClr val="42A5F5"/>
                </a:solidFill>
                <a:latin typeface="Consolas"/>
                <a:ea typeface="Consolas"/>
                <a:cs typeface="Consolas"/>
                <a:sym typeface="Consolas"/>
              </a:rPr>
              <a:t>["trump", "win"] → "trump win"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Arial Black"/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Pre-Training Data Preparation</a:t>
            </a:r>
            <a:endParaRPr lang="en-US"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274320" y="804672"/>
            <a:ext cx="8595360" cy="27432"/>
          </a:xfrm>
          <a:prstGeom prst="rect">
            <a:avLst/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455DD2-F763-E73A-C17C-006CA82B9167}"/>
              </a:ext>
            </a:extLst>
          </p:cNvPr>
          <p:cNvGrpSpPr/>
          <p:nvPr/>
        </p:nvGrpSpPr>
        <p:grpSpPr>
          <a:xfrm>
            <a:off x="274320" y="960120"/>
            <a:ext cx="2743200" cy="3840480"/>
            <a:chOff x="6126480" y="960120"/>
            <a:chExt cx="2743200" cy="3840480"/>
          </a:xfrm>
        </p:grpSpPr>
        <p:sp>
          <p:nvSpPr>
            <p:cNvPr id="205" name="Google Shape;205;p7"/>
            <p:cNvSpPr/>
            <p:nvPr/>
          </p:nvSpPr>
          <p:spPr>
            <a:xfrm>
              <a:off x="6126480" y="960120"/>
              <a:ext cx="2743200" cy="3840480"/>
            </a:xfrm>
            <a:prstGeom prst="rect">
              <a:avLst/>
            </a:prstGeom>
            <a:solidFill>
              <a:srgbClr val="0D1B2A"/>
            </a:solidFill>
            <a:ln w="12700" cap="flat" cmpd="sng">
              <a:solidFill>
                <a:srgbClr val="0D1B2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7"/>
            <p:cNvSpPr/>
            <p:nvPr/>
          </p:nvSpPr>
          <p:spPr>
            <a:xfrm>
              <a:off x="6126480" y="960120"/>
              <a:ext cx="2743200" cy="457200"/>
            </a:xfrm>
            <a:prstGeom prst="rect">
              <a:avLst/>
            </a:prstGeom>
            <a:solidFill>
              <a:srgbClr val="1E88E5"/>
            </a:solidFill>
            <a:ln w="12700" cap="flat" cmpd="sng">
              <a:solidFill>
                <a:srgbClr val="1E88E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7"/>
            <p:cNvSpPr/>
            <p:nvPr/>
          </p:nvSpPr>
          <p:spPr>
            <a:xfrm>
              <a:off x="6126480" y="960120"/>
              <a:ext cx="2743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 Black"/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Feature Engineering</a:t>
              </a:r>
              <a:endParaRPr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6172200" y="1508760"/>
              <a:ext cx="26060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42A5F5"/>
                </a:buClr>
                <a:buSzPts val="1100"/>
                <a:buFont typeface="Arial"/>
                <a:buNone/>
              </a:pPr>
              <a:r>
                <a:rPr lang="en-US" sz="1100" i="1">
                  <a:solidFill>
                    <a:srgbClr val="42A5F5"/>
                  </a:solidFill>
                  <a:latin typeface="Arial"/>
                  <a:ea typeface="Arial"/>
                  <a:cs typeface="Arial"/>
                  <a:sym typeface="Arial"/>
                </a:rPr>
                <a:t>Length &amp; Style Signals (9 features)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6199632" y="1920240"/>
              <a:ext cx="2560320" cy="3017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342900" marR="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rgbClr val="42A5F5"/>
                </a:buClr>
                <a:buSzPts val="900"/>
                <a:buFont typeface="Consolas"/>
                <a:buChar char="•"/>
              </a:pPr>
              <a:r>
                <a:rPr lang="en-US" sz="900" dirty="0">
                  <a:solidFill>
                    <a:srgbClr val="42A5F5"/>
                  </a:solidFill>
                  <a:latin typeface="Consolas"/>
                  <a:ea typeface="Consolas"/>
                  <a:cs typeface="Consolas"/>
                  <a:sym typeface="Consolas"/>
                </a:rPr>
                <a:t>Title length (chars &amp; words)</a:t>
              </a:r>
              <a:endParaRPr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6199632" y="2267712"/>
              <a:ext cx="2560320" cy="3017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342900" marR="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rgbClr val="42A5F5"/>
                </a:buClr>
                <a:buSzPts val="900"/>
                <a:buFont typeface="Consolas"/>
                <a:buChar char="•"/>
              </a:pPr>
              <a:r>
                <a:rPr lang="en-US" sz="900" dirty="0">
                  <a:solidFill>
                    <a:srgbClr val="42A5F5"/>
                  </a:solidFill>
                  <a:latin typeface="Consolas"/>
                  <a:ea typeface="Consolas"/>
                  <a:cs typeface="Consolas"/>
                  <a:sym typeface="Consolas"/>
                </a:rPr>
                <a:t>Article length (chars &amp; words)</a:t>
              </a:r>
              <a:endParaRPr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7"/>
            <p:cNvSpPr/>
            <p:nvPr/>
          </p:nvSpPr>
          <p:spPr>
            <a:xfrm>
              <a:off x="6199632" y="2615184"/>
              <a:ext cx="2560320" cy="3017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342900" marR="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rgbClr val="42A5F5"/>
                </a:buClr>
                <a:buSzPts val="900"/>
                <a:buFont typeface="Consolas"/>
                <a:buChar char="•"/>
              </a:pPr>
              <a:r>
                <a:rPr lang="en-US" sz="900">
                  <a:solidFill>
                    <a:srgbClr val="42A5F5"/>
                  </a:solidFill>
                  <a:latin typeface="Consolas"/>
                  <a:ea typeface="Consolas"/>
                  <a:cs typeface="Consolas"/>
                  <a:sym typeface="Consolas"/>
                </a:rPr>
                <a:t>Exclamation marks in title  (Fake avg: 0.21 vs Real: 0.001)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7"/>
            <p:cNvSpPr/>
            <p:nvPr/>
          </p:nvSpPr>
          <p:spPr>
            <a:xfrm>
              <a:off x="6199632" y="2962656"/>
              <a:ext cx="2560320" cy="3017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342900" marR="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rgbClr val="42A5F5"/>
                </a:buClr>
                <a:buSzPts val="900"/>
                <a:buFont typeface="Consolas"/>
                <a:buChar char="•"/>
              </a:pPr>
              <a:r>
                <a:rPr lang="en-US" sz="900">
                  <a:solidFill>
                    <a:srgbClr val="42A5F5"/>
                  </a:solidFill>
                  <a:latin typeface="Consolas"/>
                  <a:ea typeface="Consolas"/>
                  <a:cs typeface="Consolas"/>
                  <a:sym typeface="Consolas"/>
                </a:rPr>
                <a:t>Question marks in title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6199632" y="3310128"/>
              <a:ext cx="2560320" cy="3017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342900" marR="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rgbClr val="42A5F5"/>
                </a:buClr>
                <a:buSzPts val="900"/>
                <a:buFont typeface="Consolas"/>
                <a:buChar char="•"/>
              </a:pPr>
              <a:r>
                <a:rPr lang="en-US" sz="900" dirty="0">
                  <a:solidFill>
                    <a:srgbClr val="42A5F5"/>
                  </a:solidFill>
                  <a:latin typeface="Consolas"/>
                  <a:ea typeface="Consolas"/>
                  <a:cs typeface="Consolas"/>
                  <a:sym typeface="Consolas"/>
                </a:rPr>
                <a:t>CAPS ratio in title  (Fake avg: 0.18 vs Real: 0.04)</a:t>
              </a:r>
              <a:endParaRPr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7"/>
            <p:cNvSpPr/>
            <p:nvPr/>
          </p:nvSpPr>
          <p:spPr>
            <a:xfrm>
              <a:off x="6199632" y="3657600"/>
              <a:ext cx="2560320" cy="3017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342900" marR="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rgbClr val="42A5F5"/>
                </a:buClr>
                <a:buSzPts val="900"/>
                <a:buFont typeface="Consolas"/>
                <a:buChar char="•"/>
              </a:pPr>
              <a:r>
                <a:rPr lang="en-US" sz="900">
                  <a:solidFill>
                    <a:srgbClr val="42A5F5"/>
                  </a:solidFill>
                  <a:latin typeface="Consolas"/>
                  <a:ea typeface="Consolas"/>
                  <a:cs typeface="Consolas"/>
                  <a:sym typeface="Consolas"/>
                </a:rPr>
                <a:t>Contains quote marks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7"/>
            <p:cNvSpPr/>
            <p:nvPr/>
          </p:nvSpPr>
          <p:spPr>
            <a:xfrm>
              <a:off x="6199632" y="4005072"/>
              <a:ext cx="2560320" cy="3017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342900" marR="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rgbClr val="42A5F5"/>
                </a:buClr>
                <a:buSzPts val="900"/>
                <a:buFont typeface="Consolas"/>
                <a:buChar char="•"/>
              </a:pPr>
              <a:r>
                <a:rPr lang="en-US" sz="900">
                  <a:solidFill>
                    <a:srgbClr val="42A5F5"/>
                  </a:solidFill>
                  <a:latin typeface="Consolas"/>
                  <a:ea typeface="Consolas"/>
                  <a:cs typeface="Consolas"/>
                  <a:sym typeface="Consolas"/>
                </a:rPr>
                <a:t>First word in ALL CAPS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ACFB83B-4E9D-EE65-B692-953E97A5FC88}"/>
              </a:ext>
            </a:extLst>
          </p:cNvPr>
          <p:cNvGrpSpPr/>
          <p:nvPr/>
        </p:nvGrpSpPr>
        <p:grpSpPr>
          <a:xfrm>
            <a:off x="3182112" y="960120"/>
            <a:ext cx="5669280" cy="3840480"/>
            <a:chOff x="274320" y="960120"/>
            <a:chExt cx="5669280" cy="3840480"/>
          </a:xfrm>
        </p:grpSpPr>
        <p:sp>
          <p:nvSpPr>
            <p:cNvPr id="189" name="Google Shape;189;p7"/>
            <p:cNvSpPr/>
            <p:nvPr/>
          </p:nvSpPr>
          <p:spPr>
            <a:xfrm>
              <a:off x="274320" y="960120"/>
              <a:ext cx="2743200" cy="384048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42A5F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7"/>
            <p:cNvSpPr/>
            <p:nvPr/>
          </p:nvSpPr>
          <p:spPr>
            <a:xfrm>
              <a:off x="274320" y="960120"/>
              <a:ext cx="2743200" cy="457200"/>
            </a:xfrm>
            <a:prstGeom prst="rect">
              <a:avLst/>
            </a:prstGeom>
            <a:solidFill>
              <a:srgbClr val="90A4AE"/>
            </a:solidFill>
            <a:ln w="12700" cap="flat" cmpd="sng">
              <a:solidFill>
                <a:srgbClr val="90A4A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7"/>
            <p:cNvSpPr/>
            <p:nvPr/>
          </p:nvSpPr>
          <p:spPr>
            <a:xfrm>
              <a:off x="274320" y="960120"/>
              <a:ext cx="2743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 Black"/>
                <a:buNone/>
              </a:pPr>
              <a:r>
                <a:rPr lang="en-US" sz="1400" b="1">
                  <a:solidFill>
                    <a:srgbClr val="FFFFFF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Bag of Words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320040" y="1508760"/>
              <a:ext cx="26060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90A4AE"/>
                </a:buClr>
                <a:buSzPts val="1100"/>
                <a:buFont typeface="Arial"/>
                <a:buNone/>
              </a:pPr>
              <a:r>
                <a:rPr lang="en-US" sz="1100" i="1">
                  <a:solidFill>
                    <a:srgbClr val="90A4AE"/>
                  </a:solidFill>
                  <a:latin typeface="Arial"/>
                  <a:ea typeface="Arial"/>
                  <a:cs typeface="Arial"/>
                  <a:sym typeface="Arial"/>
                </a:rPr>
                <a:t>Baseline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365760" y="1920240"/>
              <a:ext cx="25146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342900" marR="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000"/>
                <a:buFont typeface="Arial"/>
                <a:buChar char="•"/>
              </a:pPr>
              <a:r>
                <a:rPr lang="en-US" sz="1000" dirty="0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Top 1,000 most frequent words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7"/>
            <p:cNvSpPr/>
            <p:nvPr/>
          </p:nvSpPr>
          <p:spPr>
            <a:xfrm>
              <a:off x="365760" y="2286000"/>
              <a:ext cx="25146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342900" marR="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000"/>
                <a:buFont typeface="Arial"/>
                <a:buChar char="•"/>
              </a:pPr>
              <a:r>
                <a:rPr lang="en-US" sz="1000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Raw word counts per title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365760" y="2651760"/>
              <a:ext cx="25146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342900" marR="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000"/>
                <a:buFont typeface="Arial"/>
                <a:buChar char="•"/>
              </a:pPr>
              <a:r>
                <a:rPr lang="en-US" sz="1000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Sparse matrix representation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365760" y="3017520"/>
              <a:ext cx="25146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342900" marR="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000"/>
                <a:buFont typeface="Arial"/>
                <a:buChar char="•"/>
              </a:pPr>
              <a:r>
                <a:rPr lang="en-US" sz="1000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No weighting — simple baseline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3200400" y="960120"/>
              <a:ext cx="2743200" cy="384048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1565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7"/>
            <p:cNvSpPr/>
            <p:nvPr/>
          </p:nvSpPr>
          <p:spPr>
            <a:xfrm>
              <a:off x="3200400" y="960120"/>
              <a:ext cx="2743200" cy="457200"/>
            </a:xfrm>
            <a:prstGeom prst="rect">
              <a:avLst/>
            </a:prstGeom>
            <a:solidFill>
              <a:srgbClr val="1565C0"/>
            </a:solidFill>
            <a:ln w="12700" cap="flat" cmpd="sng">
              <a:solidFill>
                <a:srgbClr val="1565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3200400" y="960120"/>
              <a:ext cx="2743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 Black"/>
                <a:buNone/>
              </a:pPr>
              <a:r>
                <a:rPr lang="en-US" sz="1400" b="1">
                  <a:solidFill>
                    <a:srgbClr val="FFFFFF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TF-IDF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3246120" y="1508760"/>
              <a:ext cx="26060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565C0"/>
                </a:buClr>
                <a:buSzPts val="1100"/>
                <a:buFont typeface="Arial"/>
                <a:buNone/>
              </a:pPr>
              <a:r>
                <a:rPr lang="en-US" sz="1100" i="1">
                  <a:solidFill>
                    <a:srgbClr val="1565C0"/>
                  </a:solidFill>
                  <a:latin typeface="Arial"/>
                  <a:ea typeface="Arial"/>
                  <a:cs typeface="Arial"/>
                  <a:sym typeface="Arial"/>
                </a:rPr>
                <a:t>Primary Embedding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7"/>
            <p:cNvSpPr/>
            <p:nvPr/>
          </p:nvSpPr>
          <p:spPr>
            <a:xfrm>
              <a:off x="3291840" y="1920240"/>
              <a:ext cx="25146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342900" marR="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000"/>
                <a:buFont typeface="Arial"/>
                <a:buChar char="•"/>
              </a:pPr>
              <a:r>
                <a:rPr lang="en-US" sz="1000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Top 5,000 terms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7"/>
            <p:cNvSpPr/>
            <p:nvPr/>
          </p:nvSpPr>
          <p:spPr>
            <a:xfrm>
              <a:off x="3291840" y="2286000"/>
              <a:ext cx="25146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342900" marR="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000"/>
                <a:buFont typeface="Arial"/>
                <a:buChar char="•"/>
              </a:pPr>
              <a:r>
                <a:rPr lang="en-US" sz="1000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Unigrams + bigrams (1,2)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7"/>
            <p:cNvSpPr/>
            <p:nvPr/>
          </p:nvSpPr>
          <p:spPr>
            <a:xfrm>
              <a:off x="3291840" y="2651760"/>
              <a:ext cx="25146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342900" marR="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000"/>
                <a:buFont typeface="Arial"/>
                <a:buChar char="•"/>
              </a:pPr>
              <a:r>
                <a:rPr lang="en-US" sz="1000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Log normalisation (sublinear_tf)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7"/>
            <p:cNvSpPr/>
            <p:nvPr/>
          </p:nvSpPr>
          <p:spPr>
            <a:xfrm>
              <a:off x="3291840" y="3017520"/>
              <a:ext cx="25146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342900" marR="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000"/>
                <a:buFont typeface="Arial"/>
                <a:buChar char="•"/>
              </a:pPr>
              <a:r>
                <a:rPr lang="en-US" sz="1000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Down-weights common words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Arial Black"/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Model Training: Three </a:t>
            </a:r>
            <a:r>
              <a:rPr lang="en-US" sz="2600" b="1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Classifiers with Six </a:t>
            </a:r>
            <a:r>
              <a:rPr lang="en-US" sz="2600" b="1" dirty="0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Experiments Each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274320" y="804672"/>
            <a:ext cx="8595360" cy="27432"/>
          </a:xfrm>
          <a:prstGeom prst="rect">
            <a:avLst/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274320" y="86868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100"/>
              <a:buFont typeface="Arial"/>
              <a:buNone/>
            </a:pPr>
            <a:r>
              <a:rPr lang="en-US" sz="1100" i="1" dirty="0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Each model was evaluated on: </a:t>
            </a:r>
            <a:br>
              <a:rPr lang="en-US" sz="1100" i="1" dirty="0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 b="1" i="1" dirty="0" err="1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BoW</a:t>
            </a:r>
            <a:r>
              <a:rPr lang="en-US" sz="1100" b="1" i="1" dirty="0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100" b="1" i="1" dirty="0" err="1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lem</a:t>
            </a:r>
            <a:r>
              <a:rPr lang="en-US" sz="1100" b="1" i="1" dirty="0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) · </a:t>
            </a:r>
            <a:r>
              <a:rPr lang="en-US" sz="1100" b="1" i="1" dirty="0" err="1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BoW</a:t>
            </a:r>
            <a:r>
              <a:rPr lang="en-US" sz="1100" b="1" i="1" dirty="0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 (stem) · TF-IDF (</a:t>
            </a:r>
            <a:r>
              <a:rPr lang="en-US" sz="1100" b="1" i="1" dirty="0" err="1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lem</a:t>
            </a:r>
            <a:r>
              <a:rPr lang="en-US" sz="1100" b="1" i="1" dirty="0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) · TF-IDF (stem) · </a:t>
            </a:r>
            <a:r>
              <a:rPr lang="en-US" sz="1100" b="1" i="1" dirty="0" err="1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TF-IDF+Numeric</a:t>
            </a:r>
            <a:r>
              <a:rPr lang="en-US" sz="1100" b="1" i="1" dirty="0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100" b="1" i="1" dirty="0" err="1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lem</a:t>
            </a:r>
            <a:r>
              <a:rPr lang="en-US" sz="1100" b="1" i="1" dirty="0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) · </a:t>
            </a:r>
            <a:r>
              <a:rPr lang="en-US" sz="1100" b="1" i="1" dirty="0" err="1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TF-IDF+Numeric</a:t>
            </a:r>
            <a:r>
              <a:rPr lang="en-US" sz="1100" b="1" i="1" dirty="0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 (stem)</a:t>
            </a:r>
            <a:endParaRPr sz="11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274320" y="1325880"/>
            <a:ext cx="2788920" cy="352044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C6282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274320" y="1325880"/>
            <a:ext cx="2788920" cy="594360"/>
          </a:xfrm>
          <a:prstGeom prst="rect">
            <a:avLst/>
          </a:prstGeom>
          <a:solidFill>
            <a:srgbClr val="C62828"/>
          </a:solidFill>
          <a:ln w="12700" cap="flat" cmpd="sng">
            <a:solidFill>
              <a:srgbClr val="C628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274320" y="1325880"/>
            <a:ext cx="2788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lang="en-US" sz="16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Naive Bayes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365760" y="1993392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000"/>
              <a:buFont typeface="Consolas"/>
              <a:buNone/>
            </a:pPr>
            <a:r>
              <a:rPr lang="en-US" sz="1000" i="1">
                <a:solidFill>
                  <a:srgbClr val="C62828"/>
                </a:solidFill>
                <a:latin typeface="Consolas"/>
                <a:ea typeface="Consolas"/>
                <a:cs typeface="Consolas"/>
                <a:sym typeface="Consolas"/>
              </a:rPr>
              <a:t>MultinomialNB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365760" y="2304288"/>
            <a:ext cx="26060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Probabilistic classifier. Assumes word independence. Naturally suited to sparse text data. Fast and interpretable.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365760" y="3584448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Very fast to train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365760" y="3858768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Handles sparse matrices well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365760" y="4133088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No scaling needed (MinMax for numeric)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3246120" y="1325880"/>
            <a:ext cx="2788920" cy="352044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3246120" y="1325880"/>
            <a:ext cx="2788920" cy="59436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3246120" y="1325880"/>
            <a:ext cx="2788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Logistic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Regression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3337560" y="1993392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onsolas"/>
              <a:buNone/>
            </a:pPr>
            <a:r>
              <a:rPr lang="en-US" sz="1000" i="1">
                <a:solidFill>
                  <a:srgbClr val="1565C0"/>
                </a:solidFill>
                <a:latin typeface="Consolas"/>
                <a:ea typeface="Consolas"/>
                <a:cs typeface="Consolas"/>
                <a:sym typeface="Consolas"/>
              </a:rPr>
              <a:t>max_iter=1000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3337560" y="2304288"/>
            <a:ext cx="26060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Linear model learning a weight per feature. Strong baseline for TF-IDF. StandardScaler applied to numeric features.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3337560" y="3584448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Interpretable weights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3337560" y="3858768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Char char="•"/>
            </a:pPr>
            <a:r>
              <a:rPr lang="en-US" sz="900" dirty="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Strong with TF-IDF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3337560" y="4133088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Scalable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6217920" y="1325880"/>
            <a:ext cx="2788920" cy="352044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6217920" y="1325880"/>
            <a:ext cx="2788920" cy="594360"/>
          </a:xfrm>
          <a:prstGeom prst="rect">
            <a:avLst/>
          </a:prstGeom>
          <a:solidFill>
            <a:srgbClr val="2E7D32"/>
          </a:solidFill>
          <a:ln w="127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6217920" y="1325880"/>
            <a:ext cx="2788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lang="en-US" sz="16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Random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lang="en-US" sz="16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Forest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6309360" y="1993392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onsolas"/>
              <a:buNone/>
            </a:pPr>
            <a:r>
              <a:rPr lang="en-US" sz="1000" i="1">
                <a:solidFill>
                  <a:srgbClr val="2E7D32"/>
                </a:solidFill>
                <a:latin typeface="Consolas"/>
                <a:ea typeface="Consolas"/>
                <a:cs typeface="Consolas"/>
                <a:sym typeface="Consolas"/>
              </a:rPr>
              <a:t>n_estimators=100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6309360" y="2304288"/>
            <a:ext cx="26060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Ensemble of 100 decision trees. Robust to overfitting. No scaling needed. Provides feature importance scores.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6309360" y="3584448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No scaling needed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6309360" y="3858768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Handles mixed features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6309360" y="4133088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Feature importance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E2DD35-FEB5-5261-B64F-497B01213E86}"/>
              </a:ext>
            </a:extLst>
          </p:cNvPr>
          <p:cNvSpPr/>
          <p:nvPr/>
        </p:nvSpPr>
        <p:spPr>
          <a:xfrm>
            <a:off x="-1074420" y="758952"/>
            <a:ext cx="937260" cy="6492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Benay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Arial Black"/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Results: Ranked by Accuracy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274320" y="804672"/>
            <a:ext cx="8595360" cy="27432"/>
          </a:xfrm>
          <a:prstGeom prst="rect">
            <a:avLst/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9"/>
          <p:cNvPicPr preferRelativeResize="0"/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/>
          <a:stretch/>
        </p:blipFill>
        <p:spPr>
          <a:xfrm>
            <a:off x="274320" y="914400"/>
            <a:ext cx="8595361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791DC1A-7B0C-FDBD-0AFF-A693EFC1D89F}"/>
              </a:ext>
            </a:extLst>
          </p:cNvPr>
          <p:cNvSpPr/>
          <p:nvPr/>
        </p:nvSpPr>
        <p:spPr>
          <a:xfrm>
            <a:off x="304800" y="4118430"/>
            <a:ext cx="8454571" cy="177794"/>
          </a:xfrm>
          <a:prstGeom prst="rect">
            <a:avLst/>
          </a:prstGeom>
          <a:noFill/>
          <a:ln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EDE981-3584-834B-6312-FFE64516E469}"/>
              </a:ext>
            </a:extLst>
          </p:cNvPr>
          <p:cNvSpPr txBox="1"/>
          <p:nvPr/>
        </p:nvSpPr>
        <p:spPr>
          <a:xfrm>
            <a:off x="330200" y="4296223"/>
            <a:ext cx="1676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b="1" i="1" dirty="0">
                <a:solidFill>
                  <a:srgbClr val="FFC000"/>
                </a:solidFill>
              </a:rPr>
              <a:t>Selected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Arial Black"/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Confusion Matrix: Best Model: RF TF-IDF + Numeric (stemmed)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274320" y="804672"/>
            <a:ext cx="8595360" cy="27432"/>
          </a:xfrm>
          <a:prstGeom prst="rect">
            <a:avLst/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457200" y="1371600"/>
            <a:ext cx="3657600" cy="1554480"/>
          </a:xfrm>
          <a:prstGeom prst="rect">
            <a:avLst/>
          </a:prstGeom>
          <a:solidFill>
            <a:srgbClr val="E8F5E9"/>
          </a:solidFill>
          <a:ln w="254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457200" y="155448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3600"/>
              <a:buFont typeface="Arial Black"/>
              <a:buNone/>
            </a:pPr>
            <a:r>
              <a:rPr lang="en-US" sz="3600" b="1">
                <a:solidFill>
                  <a:srgbClr val="2E7D32"/>
                </a:solidFill>
                <a:latin typeface="Arial Black"/>
                <a:ea typeface="Arial Black"/>
                <a:cs typeface="Arial Black"/>
                <a:sym typeface="Arial Black"/>
              </a:rPr>
              <a:t>3,284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457200" y="23774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Arial"/>
              <a:buNone/>
            </a:pPr>
            <a:r>
              <a:rPr lang="en-US" sz="1300" i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True Negative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4389120" y="1371600"/>
            <a:ext cx="3657600" cy="1554480"/>
          </a:xfrm>
          <a:prstGeom prst="rect">
            <a:avLst/>
          </a:prstGeom>
          <a:solidFill>
            <a:srgbClr val="FFEBEE"/>
          </a:solidFill>
          <a:ln w="25400" cap="flat" cmpd="sng">
            <a:solidFill>
              <a:srgbClr val="C628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4389120" y="155448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3600"/>
              <a:buFont typeface="Arial Black"/>
              <a:buNone/>
            </a:pPr>
            <a:r>
              <a:rPr lang="en-US" sz="3600" b="1">
                <a:solidFill>
                  <a:srgbClr val="C62828"/>
                </a:solidFill>
                <a:latin typeface="Arial Black"/>
                <a:ea typeface="Arial Black"/>
                <a:cs typeface="Arial Black"/>
                <a:sym typeface="Arial Black"/>
              </a:rPr>
              <a:t>13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4389120" y="23774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Arial"/>
              <a:buNone/>
            </a:pPr>
            <a:r>
              <a:rPr lang="en-US" sz="1300" i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False Positive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457200" y="3200400"/>
            <a:ext cx="3657600" cy="1554480"/>
          </a:xfrm>
          <a:prstGeom prst="rect">
            <a:avLst/>
          </a:prstGeom>
          <a:solidFill>
            <a:srgbClr val="FFEBEE"/>
          </a:solidFill>
          <a:ln w="25400" cap="flat" cmpd="sng">
            <a:solidFill>
              <a:srgbClr val="C628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457200" y="338328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3600"/>
              <a:buFont typeface="Arial Black"/>
              <a:buNone/>
            </a:pPr>
            <a:r>
              <a:rPr lang="en-US" sz="3600" b="1">
                <a:solidFill>
                  <a:srgbClr val="C62828"/>
                </a:solidFill>
                <a:latin typeface="Arial Black"/>
                <a:ea typeface="Arial Black"/>
                <a:cs typeface="Arial Black"/>
                <a:sym typeface="Arial Black"/>
              </a:rPr>
              <a:t>12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457200" y="42062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Arial"/>
              <a:buNone/>
            </a:pPr>
            <a:r>
              <a:rPr lang="en-US" sz="1300" i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False Negative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4389120" y="3200400"/>
            <a:ext cx="3657600" cy="1554480"/>
          </a:xfrm>
          <a:prstGeom prst="rect">
            <a:avLst/>
          </a:prstGeom>
          <a:solidFill>
            <a:srgbClr val="E8F5E9"/>
          </a:solidFill>
          <a:ln w="254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4389120" y="338328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3600"/>
              <a:buFont typeface="Arial Black"/>
              <a:buNone/>
            </a:pPr>
            <a:r>
              <a:rPr lang="en-US" sz="3600" b="1">
                <a:solidFill>
                  <a:srgbClr val="2E7D32"/>
                </a:solidFill>
                <a:latin typeface="Arial Black"/>
                <a:ea typeface="Arial Black"/>
                <a:cs typeface="Arial Black"/>
                <a:sym typeface="Arial Black"/>
              </a:rPr>
              <a:t>3,976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4389120" y="42062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Arial"/>
              <a:buNone/>
            </a:pPr>
            <a:r>
              <a:rPr lang="en-US" sz="1300" i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True Positive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Predicted: FAKE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4389120" y="10058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Predicted: REAL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 rot="-5400000">
            <a:off x="8321040" y="1371600"/>
            <a:ext cx="64008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Actual: FAKE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 rot="-5400000">
            <a:off x="8321040" y="3200400"/>
            <a:ext cx="64008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Actual: REAL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 Accuracy: 99.64%   |   Only </a:t>
            </a:r>
            <a:r>
              <a:rPr lang="en-US" sz="1200" b="1">
                <a:solidFill>
                  <a:srgbClr val="FFFFFF"/>
                </a:solidFill>
              </a:rPr>
              <a:t>25 </a:t>
            </a: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misclassified out of 7,</a:t>
            </a:r>
            <a:r>
              <a:rPr lang="en-US" sz="1200" b="1">
                <a:solidFill>
                  <a:srgbClr val="FFFFFF"/>
                </a:solidFill>
              </a:rPr>
              <a:t>286</a:t>
            </a: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articles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Arial Black"/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Key Results: What the Numbers Tell Us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274320" y="804672"/>
            <a:ext cx="8595360" cy="27432"/>
          </a:xfrm>
          <a:prstGeom prst="rect">
            <a:avLst/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274320" y="1005840"/>
            <a:ext cx="8595360" cy="86868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274320" y="1005840"/>
            <a:ext cx="822960" cy="86868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274320" y="1005840"/>
            <a:ext cx="8229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🥇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1143000" y="1051560"/>
            <a:ext cx="1371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2800"/>
              <a:buFont typeface="Arial Black"/>
              <a:buNone/>
            </a:pPr>
            <a:r>
              <a:rPr lang="en-US" sz="2800" b="1">
                <a:solidFill>
                  <a:srgbClr val="1565C0"/>
                </a:solidFill>
                <a:latin typeface="Arial Black"/>
                <a:ea typeface="Arial Black"/>
                <a:cs typeface="Arial Black"/>
                <a:sym typeface="Arial Black"/>
              </a:rPr>
              <a:t>99.6%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2606040" y="1051560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Arial Black"/>
              <a:buNone/>
            </a:pPr>
            <a:r>
              <a:rPr lang="en-US" sz="1300" b="1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Best Model: RF + TF-IDF + Numeric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2606040" y="1389888"/>
            <a:ext cx="6126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All three models converge near 99.6% with TF-IDF + Numeric features. RF leads (99.64%), LR second (99.57%). The feature set, not the classifier, is the key.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274320" y="2011680"/>
            <a:ext cx="8595360" cy="86868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274320" y="2011680"/>
            <a:ext cx="822960" cy="868680"/>
          </a:xfrm>
          <a:prstGeom prst="rect">
            <a:avLst/>
          </a:prstGeom>
          <a:solidFill>
            <a:srgbClr val="1E88E5"/>
          </a:solidFill>
          <a:ln w="12700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274320" y="2011680"/>
            <a:ext cx="8229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🔤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1143000" y="2057400"/>
            <a:ext cx="1371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88E5"/>
              </a:buClr>
              <a:buSzPts val="2800"/>
              <a:buFont typeface="Arial Black"/>
              <a:buNone/>
            </a:pPr>
            <a:r>
              <a:rPr lang="en-US" sz="2800" b="1" dirty="0">
                <a:solidFill>
                  <a:srgbClr val="1E88E5"/>
                </a:solidFill>
                <a:latin typeface="Arial Black"/>
                <a:ea typeface="Arial Black"/>
                <a:cs typeface="Arial Black"/>
                <a:sym typeface="Arial Black"/>
              </a:rPr>
              <a:t>&lt;0.1%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2606040" y="2057400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Arial Black"/>
              <a:buNone/>
            </a:pPr>
            <a:r>
              <a:rPr lang="en-US" sz="1300" b="1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Stemming ≈ Lemmatisation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2606040" y="2395728"/>
            <a:ext cx="6126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Difference across all experiments. Either approach works for this task — confirming that word root normalisation method is not a critical choice here.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274320" y="3017520"/>
            <a:ext cx="8595360" cy="86868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274320" y="3017520"/>
            <a:ext cx="822960" cy="868680"/>
          </a:xfrm>
          <a:prstGeom prst="rect">
            <a:avLst/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274320" y="3017520"/>
            <a:ext cx="8229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1143000" y="3063240"/>
            <a:ext cx="1371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2800"/>
              <a:buFont typeface="Arial Black"/>
              <a:buNone/>
            </a:pPr>
            <a:r>
              <a:rPr lang="en-US" sz="2800" b="1" dirty="0">
                <a:solidFill>
                  <a:srgbClr val="42A5F5"/>
                </a:solidFill>
                <a:latin typeface="Arial Black"/>
                <a:ea typeface="Arial Black"/>
                <a:cs typeface="Arial Black"/>
                <a:sym typeface="Arial Black"/>
              </a:rPr>
              <a:t>+2%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2606040" y="3063240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Arial Black"/>
              <a:buNone/>
            </a:pPr>
            <a:r>
              <a:rPr lang="en-US" sz="1300" b="1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TF-IDF &gt; Bag of Words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2606040" y="3401568"/>
            <a:ext cx="6126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Consistent improvement across all three models. Down-weighting common words gives cleaner signal for fake news detection.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274320" y="4023360"/>
            <a:ext cx="8595360" cy="86868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90A4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274320" y="4023360"/>
            <a:ext cx="822960" cy="868680"/>
          </a:xfrm>
          <a:prstGeom prst="rect">
            <a:avLst/>
          </a:prstGeom>
          <a:solidFill>
            <a:srgbClr val="90A4AE"/>
          </a:solidFill>
          <a:ln w="12700" cap="flat" cmpd="sng">
            <a:solidFill>
              <a:srgbClr val="90A4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274320" y="4023360"/>
            <a:ext cx="8229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1143000" y="4069080"/>
            <a:ext cx="1371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2800"/>
              <a:buFont typeface="Arial Black"/>
              <a:buNone/>
            </a:pPr>
            <a:r>
              <a:rPr lang="en-US" sz="2800" b="1">
                <a:solidFill>
                  <a:srgbClr val="90A4AE"/>
                </a:solidFill>
                <a:latin typeface="Arial Black"/>
                <a:ea typeface="Arial Black"/>
                <a:cs typeface="Arial Black"/>
                <a:sym typeface="Arial Black"/>
              </a:rPr>
              <a:t>90-92%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2606040" y="4069080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Arial Black"/>
              <a:buNone/>
            </a:pPr>
            <a:r>
              <a:rPr lang="en-US" sz="1300" b="1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RF Weak on Text Alone, Leads with Features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2606040" y="4407408"/>
            <a:ext cx="6126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 dirty="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RF scores only 90-92% on sparse TF-IDF alone but jumps to 99.64% with numeric features — best overall. Tree models excel at dense numeric signals.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Arial Black"/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Section 5: Predicting on Validation Data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274320" y="804672"/>
            <a:ext cx="8595360" cy="27432"/>
          </a:xfrm>
          <a:prstGeom prst="rect">
            <a:avLst/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274320" y="86868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100"/>
              <a:buFont typeface="Arial"/>
              <a:buNone/>
            </a:pPr>
            <a:r>
              <a:rPr lang="en-US" sz="1100" i="1">
                <a:solidFill>
                  <a:srgbClr val="90A4AE"/>
                </a:solidFill>
                <a:latin typeface="Arial"/>
                <a:ea typeface="Arial"/>
                <a:cs typeface="Arial"/>
                <a:sym typeface="Arial"/>
              </a:rPr>
              <a:t>The exact same preprocessing pipeline applied to training data was applied to validation_data.csv — no re-fitting.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256032" y="1325880"/>
            <a:ext cx="960120" cy="3474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256032" y="1325880"/>
            <a:ext cx="960120" cy="41148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256032" y="1325880"/>
            <a:ext cx="960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lang="en-US" sz="16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292608" y="1810512"/>
            <a:ext cx="8869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Tokenise +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Clean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292608" y="2542032"/>
            <a:ext cx="886968" cy="210312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310896" y="2606040"/>
            <a:ext cx="850392" cy="196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42A5F5"/>
                </a:solidFill>
                <a:latin typeface="Consolas"/>
                <a:ea typeface="Consolas"/>
                <a:cs typeface="Consolas"/>
                <a:sym typeface="Consolas"/>
              </a:rPr>
              <a:t>word_tokenize()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42A5F5"/>
                </a:solidFill>
                <a:latin typeface="Consolas"/>
                <a:ea typeface="Consolas"/>
                <a:cs typeface="Consolas"/>
                <a:sym typeface="Consolas"/>
              </a:rPr>
              <a:t>.lower() .isalpha()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1216152" y="2103120"/>
            <a:ext cx="128016" cy="73152"/>
          </a:xfrm>
          <a:prstGeom prst="rect">
            <a:avLst/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1344168" y="1325880"/>
            <a:ext cx="960120" cy="3474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1344168" y="1325880"/>
            <a:ext cx="960120" cy="41148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1344168" y="1325880"/>
            <a:ext cx="960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lang="en-US" sz="16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1380744" y="1810512"/>
            <a:ext cx="8869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Remove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Stop Words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1380744" y="2542032"/>
            <a:ext cx="886968" cy="210312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1399032" y="2606040"/>
            <a:ext cx="850392" cy="196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42A5F5"/>
                </a:solidFill>
                <a:latin typeface="Consolas"/>
                <a:ea typeface="Consolas"/>
                <a:cs typeface="Consolas"/>
                <a:sym typeface="Consolas"/>
              </a:rPr>
              <a:t>NLTK stopwords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42A5F5"/>
                </a:solidFill>
                <a:latin typeface="Consolas"/>
                <a:ea typeface="Consolas"/>
                <a:cs typeface="Consolas"/>
                <a:sym typeface="Consolas"/>
              </a:rPr>
              <a:t>filter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2304288" y="2103120"/>
            <a:ext cx="128016" cy="73152"/>
          </a:xfrm>
          <a:prstGeom prst="rect">
            <a:avLst/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2432304" y="1325880"/>
            <a:ext cx="960120" cy="3474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2432304" y="1325880"/>
            <a:ext cx="960120" cy="41148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2432304" y="1325880"/>
            <a:ext cx="960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lang="en-US" sz="16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2468880" y="1810512"/>
            <a:ext cx="8869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Lemmatise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2468880" y="2542032"/>
            <a:ext cx="886968" cy="210312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2487168" y="2606040"/>
            <a:ext cx="850392" cy="196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42A5F5"/>
                </a:solidFill>
                <a:latin typeface="Consolas"/>
                <a:ea typeface="Consolas"/>
                <a:cs typeface="Consolas"/>
                <a:sym typeface="Consolas"/>
              </a:rPr>
              <a:t>WordNetLemmatizer()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42A5F5"/>
                </a:solidFill>
                <a:latin typeface="Consolas"/>
                <a:ea typeface="Consolas"/>
                <a:cs typeface="Consolas"/>
                <a:sym typeface="Consolas"/>
              </a:rPr>
              <a:t>.lemmatize()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3392424" y="2103120"/>
            <a:ext cx="128016" cy="73152"/>
          </a:xfrm>
          <a:prstGeom prst="rect">
            <a:avLst/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3520440" y="1325880"/>
            <a:ext cx="960120" cy="3474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3520440" y="1325880"/>
            <a:ext cx="960120" cy="41148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3520440" y="1325880"/>
            <a:ext cx="960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lang="en-US" sz="16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3557016" y="1810512"/>
            <a:ext cx="8869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Rejoin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3557016" y="2542032"/>
            <a:ext cx="886968" cy="210312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3575304" y="2606040"/>
            <a:ext cx="850392" cy="196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42A5F5"/>
                </a:solidFill>
                <a:latin typeface="Consolas"/>
                <a:ea typeface="Consolas"/>
                <a:cs typeface="Consolas"/>
                <a:sym typeface="Consolas"/>
              </a:rPr>
              <a:t>' '.join(tokens)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42A5F5"/>
                </a:solidFill>
                <a:latin typeface="Consolas"/>
                <a:ea typeface="Consolas"/>
                <a:cs typeface="Consolas"/>
                <a:sym typeface="Consolas"/>
              </a:rPr>
              <a:t>→ string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4480560" y="2103120"/>
            <a:ext cx="128016" cy="73152"/>
          </a:xfrm>
          <a:prstGeom prst="rect">
            <a:avLst/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4608576" y="1325880"/>
            <a:ext cx="960120" cy="3474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4608576" y="1325880"/>
            <a:ext cx="960120" cy="41148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4608576" y="1325880"/>
            <a:ext cx="960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lang="en-US" sz="16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4645152" y="1810512"/>
            <a:ext cx="8869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TF-IDF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Transform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4645152" y="2542032"/>
            <a:ext cx="886968" cy="210312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4663440" y="2606040"/>
            <a:ext cx="850392" cy="196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42A5F5"/>
                </a:solidFill>
                <a:latin typeface="Consolas"/>
                <a:ea typeface="Consolas"/>
                <a:cs typeface="Consolas"/>
                <a:sym typeface="Consolas"/>
              </a:rPr>
              <a:t>.transform()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42A5F5"/>
                </a:solidFill>
                <a:latin typeface="Consolas"/>
                <a:ea typeface="Consolas"/>
                <a:cs typeface="Consolas"/>
                <a:sym typeface="Consolas"/>
              </a:rPr>
              <a:t>NOT fit_transform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5568696" y="2103120"/>
            <a:ext cx="128016" cy="73152"/>
          </a:xfrm>
          <a:prstGeom prst="rect">
            <a:avLst/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5696712" y="1325880"/>
            <a:ext cx="960120" cy="3474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5696712" y="1325880"/>
            <a:ext cx="960120" cy="41148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5696712" y="1325880"/>
            <a:ext cx="960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lang="en-US" sz="16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5733288" y="1810512"/>
            <a:ext cx="8869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Numeric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5733288" y="2542032"/>
            <a:ext cx="886968" cy="210312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5751576" y="2606040"/>
            <a:ext cx="850392" cy="196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42A5F5"/>
                </a:solidFill>
                <a:latin typeface="Consolas"/>
                <a:ea typeface="Consolas"/>
                <a:cs typeface="Consolas"/>
                <a:sym typeface="Consolas"/>
              </a:rPr>
              <a:t>minmax.transform()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42A5F5"/>
                </a:solidFill>
                <a:latin typeface="Consolas"/>
                <a:ea typeface="Consolas"/>
                <a:cs typeface="Consolas"/>
                <a:sym typeface="Consolas"/>
              </a:rPr>
              <a:t>NOT fit_transform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6656832" y="2103120"/>
            <a:ext cx="128016" cy="73152"/>
          </a:xfrm>
          <a:prstGeom prst="rect">
            <a:avLst/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6784848" y="1325880"/>
            <a:ext cx="960120" cy="3474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6784848" y="1325880"/>
            <a:ext cx="960120" cy="41148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6784848" y="1325880"/>
            <a:ext cx="960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lang="en-US" sz="16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7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6821424" y="1810512"/>
            <a:ext cx="8869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Combine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&amp; Predict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6821424" y="2542032"/>
            <a:ext cx="886968" cy="210312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6839712" y="2606040"/>
            <a:ext cx="850392" cy="196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42A5F5"/>
                </a:solidFill>
                <a:latin typeface="Consolas"/>
                <a:ea typeface="Consolas"/>
                <a:cs typeface="Consolas"/>
                <a:sym typeface="Consolas"/>
              </a:rPr>
              <a:t>hstack()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42A5F5"/>
                </a:solidFill>
                <a:latin typeface="Consolas"/>
                <a:ea typeface="Consolas"/>
                <a:cs typeface="Consolas"/>
                <a:sym typeface="Consolas"/>
              </a:rPr>
              <a:t>.predict()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7744968" y="2103120"/>
            <a:ext cx="128016" cy="73152"/>
          </a:xfrm>
          <a:prstGeom prst="rect">
            <a:avLst/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7872984" y="1325880"/>
            <a:ext cx="960120" cy="3474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7872984" y="1325880"/>
            <a:ext cx="960120" cy="411480"/>
          </a:xfrm>
          <a:prstGeom prst="rect">
            <a:avLst/>
          </a:prstGeom>
          <a:solidFill>
            <a:srgbClr val="2E7D32"/>
          </a:solidFill>
          <a:ln w="127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7872984" y="1325880"/>
            <a:ext cx="960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lang="en-US" sz="16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8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7909560" y="1810512"/>
            <a:ext cx="8869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Save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CSV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7909560" y="2542032"/>
            <a:ext cx="886968" cy="210312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7927848" y="2606040"/>
            <a:ext cx="850392" cy="196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42A5F5"/>
                </a:solidFill>
                <a:latin typeface="Consolas"/>
                <a:ea typeface="Consolas"/>
                <a:cs typeface="Consolas"/>
                <a:sym typeface="Consolas"/>
              </a:rPr>
              <a:t>Replace 2 → 0/1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42A5F5"/>
                </a:solidFill>
                <a:latin typeface="Consolas"/>
                <a:ea typeface="Consolas"/>
                <a:cs typeface="Consolas"/>
                <a:sym typeface="Consolas"/>
              </a:rPr>
              <a:t>export predictions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Arial Black"/>
              <a:buNone/>
            </a:pPr>
            <a:r>
              <a:rPr lang="en-US" sz="2600" b="1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Accuracy Estimation &amp; Model Confidence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274320" y="804672"/>
            <a:ext cx="8595360" cy="27432"/>
          </a:xfrm>
          <a:prstGeom prst="rect">
            <a:avLst/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3"/>
          <p:cNvSpPr/>
          <p:nvPr/>
        </p:nvSpPr>
        <p:spPr>
          <a:xfrm>
            <a:off x="274320" y="960120"/>
            <a:ext cx="3657600" cy="384048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3"/>
          <p:cNvSpPr/>
          <p:nvPr/>
        </p:nvSpPr>
        <p:spPr>
          <a:xfrm>
            <a:off x="274320" y="13716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Arial Black"/>
              <a:buNone/>
            </a:pPr>
            <a:r>
              <a:rPr lang="en-US" sz="64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99.6%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274320" y="28346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Test Set Accuracy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274320" y="333756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Arial"/>
              <a:buNone/>
            </a:pPr>
            <a:r>
              <a:rPr lang="en-US" sz="1100" i="1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7,286 unseen articles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Arial"/>
              <a:buNone/>
            </a:pPr>
            <a:r>
              <a:rPr lang="en-US" sz="1100" i="1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random_state=42 split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4206240" y="960120"/>
            <a:ext cx="4663440" cy="3840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4297680" y="105156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Arial Black"/>
              <a:buNone/>
            </a:pPr>
            <a:r>
              <a:rPr lang="en-US" sz="1400" b="1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Why we trust this estimate: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4343400" y="1536192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Char char="•"/>
            </a:pPr>
            <a:r>
              <a:rPr lang="en-US" sz="1100" dirty="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Proper train/test split (80/20): test data never seen during training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4343400" y="2039112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Vectorizers &amp; scalers fitted on train only, transform applied to test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4343400" y="2542032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Balanced dataset → accuracy and F1 are equally reliable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4343400" y="3044952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25 misclassifications out of 7,286 articles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4297680" y="361188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⚠️  Potential caveat: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4297680" y="3977640"/>
            <a:ext cx="4389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 i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The `subject` column perfectly separates classes in training data. Performance on out-of-distribution data (new topics) may be lower.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5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 Black"/>
              <a:buNone/>
            </a:pPr>
            <a:r>
              <a:rPr lang="en-US" sz="54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Thank You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5"/>
          <p:cNvSpPr/>
          <p:nvPr/>
        </p:nvSpPr>
        <p:spPr>
          <a:xfrm>
            <a:off x="457200" y="2788920"/>
            <a:ext cx="1828800" cy="13716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457200" y="2898648"/>
            <a:ext cx="1828800" cy="7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88E5"/>
              </a:buClr>
              <a:buSzPts val="3600"/>
              <a:buFont typeface="Arial Black"/>
              <a:buNone/>
            </a:pPr>
            <a:r>
              <a:rPr lang="en-US" sz="3600" b="1">
                <a:solidFill>
                  <a:srgbClr val="1E88E5"/>
                </a:solidFill>
                <a:latin typeface="Arial Black"/>
                <a:ea typeface="Arial Black"/>
                <a:cs typeface="Arial Black"/>
                <a:sym typeface="Arial Black"/>
              </a:rPr>
              <a:t>99.6%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5"/>
          <p:cNvSpPr/>
          <p:nvPr/>
        </p:nvSpPr>
        <p:spPr>
          <a:xfrm>
            <a:off x="457200" y="3584448"/>
            <a:ext cx="182880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Test Accuracy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2560320" y="2788920"/>
            <a:ext cx="1828800" cy="13716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5"/>
          <p:cNvSpPr/>
          <p:nvPr/>
        </p:nvSpPr>
        <p:spPr>
          <a:xfrm>
            <a:off x="2560320" y="2898648"/>
            <a:ext cx="1828800" cy="7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88E5"/>
              </a:buClr>
              <a:buSzPts val="3600"/>
              <a:buFont typeface="Arial Black"/>
              <a:buNone/>
            </a:pPr>
            <a:r>
              <a:rPr lang="en-US" sz="3600" b="1">
                <a:solidFill>
                  <a:srgbClr val="1E88E5"/>
                </a:solidFill>
                <a:latin typeface="Arial Black"/>
                <a:ea typeface="Arial Black"/>
                <a:cs typeface="Arial Black"/>
                <a:sym typeface="Arial Black"/>
              </a:rPr>
              <a:t>36K+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5"/>
          <p:cNvSpPr/>
          <p:nvPr/>
        </p:nvSpPr>
        <p:spPr>
          <a:xfrm>
            <a:off x="2560320" y="3584448"/>
            <a:ext cx="182880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Articles processed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4663440" y="2788920"/>
            <a:ext cx="1828800" cy="13716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5"/>
          <p:cNvSpPr/>
          <p:nvPr/>
        </p:nvSpPr>
        <p:spPr>
          <a:xfrm>
            <a:off x="4663440" y="2898648"/>
            <a:ext cx="1828800" cy="7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88E5"/>
              </a:buClr>
              <a:buSzPts val="3600"/>
              <a:buFont typeface="Arial Black"/>
              <a:buNone/>
            </a:pPr>
            <a:r>
              <a:rPr lang="en-US" sz="3600" b="1">
                <a:solidFill>
                  <a:srgbClr val="1E88E5"/>
                </a:solidFill>
                <a:latin typeface="Arial Black"/>
                <a:ea typeface="Arial Black"/>
                <a:cs typeface="Arial Black"/>
                <a:sym typeface="Arial Black"/>
              </a:rPr>
              <a:t>5,009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5"/>
          <p:cNvSpPr/>
          <p:nvPr/>
        </p:nvSpPr>
        <p:spPr>
          <a:xfrm>
            <a:off x="4663440" y="3584448"/>
            <a:ext cx="182880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Features used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6766560" y="2788920"/>
            <a:ext cx="1828800" cy="13716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5"/>
          <p:cNvSpPr/>
          <p:nvPr/>
        </p:nvSpPr>
        <p:spPr>
          <a:xfrm>
            <a:off x="6766560" y="2898648"/>
            <a:ext cx="1828800" cy="7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88E5"/>
              </a:buClr>
              <a:buSzPts val="3600"/>
              <a:buFont typeface="Arial Black"/>
              <a:buNone/>
            </a:pPr>
            <a:r>
              <a:rPr lang="en-US" sz="3600" b="1">
                <a:solidFill>
                  <a:srgbClr val="1E88E5"/>
                </a:solidFill>
                <a:latin typeface="Arial Black"/>
                <a:ea typeface="Arial Black"/>
                <a:cs typeface="Arial Black"/>
                <a:sym typeface="Arial Black"/>
              </a:rPr>
              <a:t>18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5"/>
          <p:cNvSpPr/>
          <p:nvPr/>
        </p:nvSpPr>
        <p:spPr>
          <a:xfrm>
            <a:off x="6766560" y="3584448"/>
            <a:ext cx="182880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Experiments run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NLP Challenge · Fake News Classifier ·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D1B2A"/>
        </a:solidFill>
        <a:effectLst/>
      </p:bgPr>
    </p:bg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4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lang="en-US" sz="34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Conclusions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solidFill>
            <a:srgbClr val="0D2137"/>
          </a:solidFill>
          <a:ln w="12700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457200" y="1097280"/>
            <a:ext cx="640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1143000" y="1152144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1300"/>
              <a:buFont typeface="Arial Black"/>
              <a:buNone/>
            </a:pPr>
            <a:r>
              <a:rPr lang="en-US" sz="1300" b="1" dirty="0">
                <a:solidFill>
                  <a:srgbClr val="42A5F5"/>
                </a:solidFill>
                <a:latin typeface="Arial Black"/>
                <a:ea typeface="Arial Black"/>
                <a:cs typeface="Arial Black"/>
                <a:sym typeface="Arial Black"/>
              </a:rPr>
              <a:t>Stylistic features are the key signal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4"/>
          <p:cNvSpPr/>
          <p:nvPr/>
        </p:nvSpPr>
        <p:spPr>
          <a:xfrm>
            <a:off x="1143000" y="1499616"/>
            <a:ext cx="7223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Arial"/>
              <a:buNone/>
            </a:pPr>
            <a:r>
              <a:rPr lang="en-US" sz="1000" dirty="0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Adding 9 simple features about how a title is written pushed accuracy from 93.4% → 99.6%. Fake news is as much about style as vocabulary.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365760" y="2061029"/>
            <a:ext cx="8412480" cy="822960"/>
          </a:xfrm>
          <a:prstGeom prst="rect">
            <a:avLst/>
          </a:prstGeom>
          <a:solidFill>
            <a:srgbClr val="0D2137"/>
          </a:solidFill>
          <a:ln w="12700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457200" y="2057400"/>
            <a:ext cx="640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1143000" y="2112264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1300"/>
              <a:buFont typeface="Arial Black"/>
              <a:buNone/>
            </a:pPr>
            <a:r>
              <a:rPr lang="en-US" sz="1300" b="1" dirty="0">
                <a:solidFill>
                  <a:srgbClr val="42A5F5"/>
                </a:solidFill>
                <a:latin typeface="Arial Black"/>
                <a:ea typeface="Arial Black"/>
                <a:cs typeface="Arial Black"/>
                <a:sym typeface="Arial Black"/>
              </a:rPr>
              <a:t>Features matter more than classifier choice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1143000" y="2459736"/>
            <a:ext cx="7223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Arial"/>
              <a:buNone/>
            </a:pPr>
            <a:r>
              <a:rPr lang="en-US" sz="1000" dirty="0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All three models reach ~99.6% with TF-IDF + Numeric features. RF leads, LR is close behind, NB plateaus at 95.8%. Investing in features beats switching classifiers.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365760" y="3017520"/>
            <a:ext cx="8412480" cy="822960"/>
          </a:xfrm>
          <a:prstGeom prst="rect">
            <a:avLst/>
          </a:prstGeom>
          <a:solidFill>
            <a:srgbClr val="0D2137"/>
          </a:solidFill>
          <a:ln w="12700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457200" y="3017520"/>
            <a:ext cx="640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4"/>
          <p:cNvSpPr/>
          <p:nvPr/>
        </p:nvSpPr>
        <p:spPr>
          <a:xfrm>
            <a:off x="1143000" y="3072384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1300"/>
              <a:buFont typeface="Arial Black"/>
              <a:buNone/>
            </a:pPr>
            <a:r>
              <a:rPr lang="en-US" sz="1300" b="1">
                <a:solidFill>
                  <a:srgbClr val="42A5F5"/>
                </a:solidFill>
                <a:latin typeface="Arial Black"/>
                <a:ea typeface="Arial Black"/>
                <a:cs typeface="Arial Black"/>
                <a:sym typeface="Arial Black"/>
              </a:rPr>
              <a:t>TF-IDF consistently beats Bag of Words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1143000" y="3419856"/>
            <a:ext cx="7223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The ~2% improvement across all models confirms that weighting rare but distinctive words adds real discriminative power.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4"/>
          <p:cNvSpPr/>
          <p:nvPr/>
        </p:nvSpPr>
        <p:spPr>
          <a:xfrm>
            <a:off x="365760" y="3977640"/>
            <a:ext cx="8412480" cy="822960"/>
          </a:xfrm>
          <a:prstGeom prst="rect">
            <a:avLst/>
          </a:prstGeom>
          <a:solidFill>
            <a:srgbClr val="0D2137"/>
          </a:solidFill>
          <a:ln w="12700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4"/>
          <p:cNvSpPr/>
          <p:nvPr/>
        </p:nvSpPr>
        <p:spPr>
          <a:xfrm>
            <a:off x="457200" y="3977640"/>
            <a:ext cx="640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4"/>
          <p:cNvSpPr/>
          <p:nvPr/>
        </p:nvSpPr>
        <p:spPr>
          <a:xfrm>
            <a:off x="1143000" y="4032504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1300"/>
              <a:buFont typeface="Arial Black"/>
              <a:buNone/>
            </a:pPr>
            <a:r>
              <a:rPr lang="en-US" sz="1300" b="1">
                <a:solidFill>
                  <a:srgbClr val="42A5F5"/>
                </a:solidFill>
                <a:latin typeface="Arial Black"/>
                <a:ea typeface="Arial Black"/>
                <a:cs typeface="Arial Black"/>
                <a:sym typeface="Arial Black"/>
              </a:rPr>
              <a:t>Lemmatisation vs Stemming is a non-issue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4"/>
          <p:cNvSpPr/>
          <p:nvPr/>
        </p:nvSpPr>
        <p:spPr>
          <a:xfrm>
            <a:off x="1143000" y="4379976"/>
            <a:ext cx="7223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Less than 0.1% difference in all comparisons. Either approach is valid — focus resources on features, not normalisation method.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1282</Words>
  <Application>Microsoft Office PowerPoint</Application>
  <PresentationFormat>On-screen Show (16:9)</PresentationFormat>
  <Paragraphs>272</Paragraphs>
  <Slides>15</Slides>
  <Notes>15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Arial Black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Villegas, Soledad</cp:lastModifiedBy>
  <cp:revision>1</cp:revision>
  <dcterms:created xsi:type="dcterms:W3CDTF">2026-05-20T17:13:28Z</dcterms:created>
  <dcterms:modified xsi:type="dcterms:W3CDTF">2026-05-23T08:51:48Z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f1469a-2c2a-4aee-b92b-090d4c5468ff_Enabled">
    <vt:lpwstr>true</vt:lpwstr>
  </property>
  <property fmtid="{D5CDD505-2E9C-101B-9397-08002B2CF9AE}" pid="3" name="MSIP_Label_38f1469a-2c2a-4aee-b92b-090d4c5468ff_SetDate">
    <vt:lpwstr>2026-05-20T17:19:51Z</vt:lpwstr>
  </property>
  <property fmtid="{D5CDD505-2E9C-101B-9397-08002B2CF9AE}" pid="4" name="MSIP_Label_38f1469a-2c2a-4aee-b92b-090d4c5468ff_Method">
    <vt:lpwstr>Standard</vt:lpwstr>
  </property>
  <property fmtid="{D5CDD505-2E9C-101B-9397-08002B2CF9AE}" pid="5" name="MSIP_Label_38f1469a-2c2a-4aee-b92b-090d4c5468ff_Name">
    <vt:lpwstr>Confidential - Unmarked</vt:lpwstr>
  </property>
  <property fmtid="{D5CDD505-2E9C-101B-9397-08002B2CF9AE}" pid="6" name="MSIP_Label_38f1469a-2c2a-4aee-b92b-090d4c5468ff_SiteId">
    <vt:lpwstr>2a6e6092-73e4-4752-b1a5-477a17f5056d</vt:lpwstr>
  </property>
  <property fmtid="{D5CDD505-2E9C-101B-9397-08002B2CF9AE}" pid="7" name="MSIP_Label_38f1469a-2c2a-4aee-b92b-090d4c5468ff_ActionId">
    <vt:lpwstr>f8d3096e-51cb-4a07-803b-b9292a5be896</vt:lpwstr>
  </property>
  <property fmtid="{D5CDD505-2E9C-101B-9397-08002B2CF9AE}" pid="8" name="MSIP_Label_38f1469a-2c2a-4aee-b92b-090d4c5468ff_ContentBits">
    <vt:lpwstr>0</vt:lpwstr>
  </property>
  <property fmtid="{D5CDD505-2E9C-101B-9397-08002B2CF9AE}" pid="9" name="MSIP_Label_38f1469a-2c2a-4aee-b92b-090d4c5468ff_Tag">
    <vt:lpwstr>10, 3, 0, 1</vt:lpwstr>
  </property>
</Properties>
</file>